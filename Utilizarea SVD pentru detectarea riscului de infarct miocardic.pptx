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DM Sans Medium"/>
      <p:regular r:id="rId27"/>
      <p:bold r:id="rId28"/>
      <p:italic r:id="rId29"/>
      <p:boldItalic r:id="rId30"/>
    </p:embeddedFont>
    <p:embeddedFont>
      <p:font typeface="Merriweather"/>
      <p:regular r:id="rId31"/>
      <p:bold r:id="rId32"/>
      <p:italic r:id="rId33"/>
      <p:boldItalic r:id="rId34"/>
    </p:embeddedFont>
    <p:embeddedFont>
      <p:font typeface="DM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DMSansMedium-bold.fntdata"/><Relationship Id="rId27" Type="http://schemas.openxmlformats.org/officeDocument/2006/relationships/font" Target="fonts/DMSans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erriweather-regular.fntdata"/><Relationship Id="rId30" Type="http://schemas.openxmlformats.org/officeDocument/2006/relationships/font" Target="fonts/DMSansMedium-boldItalic.fntdata"/><Relationship Id="rId11" Type="http://schemas.openxmlformats.org/officeDocument/2006/relationships/slide" Target="slides/slide5.xml"/><Relationship Id="rId33" Type="http://schemas.openxmlformats.org/officeDocument/2006/relationships/font" Target="fonts/Merriweather-italic.fntdata"/><Relationship Id="rId10" Type="http://schemas.openxmlformats.org/officeDocument/2006/relationships/slide" Target="slides/slide4.xml"/><Relationship Id="rId32" Type="http://schemas.openxmlformats.org/officeDocument/2006/relationships/font" Target="fonts/Merriweather-bold.fntdata"/><Relationship Id="rId13" Type="http://schemas.openxmlformats.org/officeDocument/2006/relationships/slide" Target="slides/slide7.xml"/><Relationship Id="rId35" Type="http://schemas.openxmlformats.org/officeDocument/2006/relationships/font" Target="fonts/DMSans-regular.fntdata"/><Relationship Id="rId12" Type="http://schemas.openxmlformats.org/officeDocument/2006/relationships/slide" Target="slides/slide6.xml"/><Relationship Id="rId34" Type="http://schemas.openxmlformats.org/officeDocument/2006/relationships/font" Target="fonts/Merriweather-boldItalic.fntdata"/><Relationship Id="rId15" Type="http://schemas.openxmlformats.org/officeDocument/2006/relationships/slide" Target="slides/slide9.xml"/><Relationship Id="rId37" Type="http://schemas.openxmlformats.org/officeDocument/2006/relationships/font" Target="fonts/DMSans-italic.fntdata"/><Relationship Id="rId14" Type="http://schemas.openxmlformats.org/officeDocument/2006/relationships/slide" Target="slides/slide8.xml"/><Relationship Id="rId36" Type="http://schemas.openxmlformats.org/officeDocument/2006/relationships/font" Target="fonts/DMSans-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DM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591d46d8f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591d46d8f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591d46d8f_0_2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591d46d8f_0_2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591d46d8f_0_2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591d46d8f_0_2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591d46d8f_0_2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591d46d8f_0_2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591d46d8f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591d46d8f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591d46d8f_0_2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e591d46d8f_0_2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591d46d8f_0_2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591d46d8f_0_2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e591d46d8f_0_2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e591d46d8f_0_2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591d46d8f_0_2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e591d46d8f_0_2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591d46d8f_0_2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591d46d8f_0_2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591d46d8f_0_2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e591d46d8f_0_2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591d46d8f_0_2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e591d46d8f_0_2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591d46d8f_0_2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e591d46d8f_0_2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e591d46d8f_0_2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e591d46d8f_0_2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5aab1802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e5aab1802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5aab1802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e5aab1802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5aab1802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5aab1802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e5aab1802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e5aab1802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591d46d8f_0_2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591d46d8f_0_2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e591d46d8f_0_2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e591d46d8f_0_2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1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29/05/2026</a:t>
            </a:r>
            <a:endParaRPr/>
          </a:p>
        </p:txBody>
      </p:sp>
      <p:sp>
        <p:nvSpPr>
          <p:cNvPr id="263" name="Google Shape;263;p44"/>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hlink"/>
              </a:buClr>
              <a:buSzPts val="990"/>
              <a:buFont typeface="Arial"/>
              <a:buNone/>
            </a:pPr>
            <a:r>
              <a:rPr lang="en" sz="4000">
                <a:latin typeface="Times New Roman"/>
                <a:ea typeface="Times New Roman"/>
                <a:cs typeface="Times New Roman"/>
                <a:sym typeface="Times New Roman"/>
              </a:rPr>
              <a:t>Utilizarea SVD pentru detectarea riscului de infarct miocardic</a:t>
            </a:r>
            <a:endParaRPr sz="40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64" name="Google Shape;264;p44"/>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2143">
                <a:latin typeface="Times New Roman"/>
                <a:ea typeface="Times New Roman"/>
                <a:cs typeface="Times New Roman"/>
                <a:sym typeface="Times New Roman"/>
              </a:rPr>
              <a:t>Universitatea din București, Facultatea de Matematică și Informatică</a:t>
            </a:r>
            <a:endParaRPr sz="2143">
              <a:latin typeface="Times New Roman"/>
              <a:ea typeface="Times New Roman"/>
              <a:cs typeface="Times New Roman"/>
              <a:sym typeface="Times New Roman"/>
            </a:endParaRPr>
          </a:p>
          <a:p>
            <a:pPr indent="0" lvl="0" marL="0" rtl="0" algn="l">
              <a:spcBef>
                <a:spcPts val="0"/>
              </a:spcBef>
              <a:spcAft>
                <a:spcPts val="0"/>
              </a:spcAft>
              <a:buClr>
                <a:schemeClr val="hlink"/>
              </a:buClr>
              <a:buSzPts val="1100"/>
              <a:buFont typeface="Arial"/>
              <a:buNone/>
            </a:pPr>
            <a:r>
              <a:t/>
            </a:r>
            <a:endParaRPr sz="2143">
              <a:latin typeface="Times New Roman"/>
              <a:ea typeface="Times New Roman"/>
              <a:cs typeface="Times New Roman"/>
              <a:sym typeface="Times New Roman"/>
            </a:endParaRPr>
          </a:p>
          <a:p>
            <a:pPr indent="0" lvl="0" marL="0" rtl="0" algn="ctr">
              <a:spcBef>
                <a:spcPts val="0"/>
              </a:spcBef>
              <a:spcAft>
                <a:spcPts val="0"/>
              </a:spcAft>
              <a:buClr>
                <a:schemeClr val="hlink"/>
              </a:buClr>
              <a:buSzPts val="1100"/>
              <a:buFont typeface="Arial"/>
              <a:buNone/>
            </a:pPr>
            <a:r>
              <a:rPr lang="en" sz="1800">
                <a:latin typeface="Times New Roman"/>
                <a:ea typeface="Times New Roman"/>
                <a:cs typeface="Times New Roman"/>
                <a:sym typeface="Times New Roman"/>
              </a:rPr>
              <a:t>Rusănescu Gabriel (Grupa 161)</a:t>
            </a:r>
            <a:endParaRPr sz="1800">
              <a:latin typeface="Times New Roman"/>
              <a:ea typeface="Times New Roman"/>
              <a:cs typeface="Times New Roman"/>
              <a:sym typeface="Times New Roman"/>
            </a:endParaRPr>
          </a:p>
          <a:p>
            <a:pPr indent="0" lvl="0" marL="0" rtl="0" algn="ctr">
              <a:spcBef>
                <a:spcPts val="0"/>
              </a:spcBef>
              <a:spcAft>
                <a:spcPts val="0"/>
              </a:spcAft>
              <a:buClr>
                <a:schemeClr val="hlink"/>
              </a:buClr>
              <a:buSzPts val="1100"/>
              <a:buFont typeface="Arial"/>
              <a:buNone/>
            </a:pPr>
            <a:r>
              <a:rPr lang="en" sz="1800">
                <a:latin typeface="Times New Roman"/>
                <a:ea typeface="Times New Roman"/>
                <a:cs typeface="Times New Roman"/>
                <a:sym typeface="Times New Roman"/>
              </a:rPr>
              <a:t>Sandu-Popa Eduard-Octavian (Grupa 164)</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descr="Human Circulatory System Heart Anatomy (Provided by Getty Images)" id="265" name="Google Shape;265;p44"/>
          <p:cNvPicPr preferRelativeResize="0"/>
          <p:nvPr/>
        </p:nvPicPr>
        <p:blipFill>
          <a:blip r:embed="rId3">
            <a:alphaModFix/>
          </a:blip>
          <a:stretch>
            <a:fillRect/>
          </a:stretch>
        </p:blipFill>
        <p:spPr>
          <a:xfrm>
            <a:off x="4336050" y="2253325"/>
            <a:ext cx="4655549" cy="26187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5"/>
          <p:cNvSpPr txBox="1"/>
          <p:nvPr>
            <p:ph idx="1" type="subTitle"/>
          </p:nvPr>
        </p:nvSpPr>
        <p:spPr>
          <a:xfrm>
            <a:off x="975300" y="1244250"/>
            <a:ext cx="7193400" cy="4183800"/>
          </a:xfrm>
          <a:prstGeom prst="rect">
            <a:avLst/>
          </a:prstGeom>
        </p:spPr>
        <p:txBody>
          <a:bodyPr anchorCtr="0" anchor="ctr" bIns="91425" lIns="91425" spcFirstLastPara="1" rIns="91425" wrap="square" tIns="91425">
            <a:spAutoFit/>
          </a:bodyPr>
          <a:lstStyle/>
          <a:p>
            <a:pPr indent="0" lvl="0" marL="0" rtl="0" algn="l">
              <a:lnSpc>
                <a:spcPct val="105000"/>
              </a:lnSpc>
              <a:spcBef>
                <a:spcPts val="0"/>
              </a:spcBef>
              <a:spcAft>
                <a:spcPts val="0"/>
              </a:spcAft>
              <a:buClr>
                <a:schemeClr val="hlink"/>
              </a:buClr>
              <a:buSzPts val="1100"/>
              <a:buFont typeface="Arial"/>
              <a:buNone/>
            </a:pPr>
            <a:r>
              <a:rPr lang="en" sz="1908"/>
              <a:t>Bolile cardiovasculare sunt o cauză principală a mortalității la nivel global.</a:t>
            </a:r>
            <a:endParaRPr sz="1908"/>
          </a:p>
          <a:p>
            <a:pPr indent="0" lvl="0" marL="0" rtl="0" algn="l">
              <a:lnSpc>
                <a:spcPct val="105000"/>
              </a:lnSpc>
              <a:spcBef>
                <a:spcPts val="1200"/>
              </a:spcBef>
              <a:spcAft>
                <a:spcPts val="0"/>
              </a:spcAft>
              <a:buClr>
                <a:schemeClr val="hlink"/>
              </a:buClr>
              <a:buSzPts val="1100"/>
              <a:buFont typeface="Arial"/>
              <a:buNone/>
            </a:pPr>
            <a:r>
              <a:t/>
            </a:r>
            <a:endParaRPr sz="1908"/>
          </a:p>
          <a:p>
            <a:pPr indent="0" lvl="0" marL="0" rtl="0" algn="l">
              <a:lnSpc>
                <a:spcPct val="105000"/>
              </a:lnSpc>
              <a:spcBef>
                <a:spcPts val="1200"/>
              </a:spcBef>
              <a:spcAft>
                <a:spcPts val="0"/>
              </a:spcAft>
              <a:buClr>
                <a:schemeClr val="hlink"/>
              </a:buClr>
              <a:buSzPts val="1100"/>
              <a:buFont typeface="Arial"/>
              <a:buNone/>
            </a:pPr>
            <a:r>
              <a:rPr lang="en" sz="1908"/>
              <a:t>Medicii analizează simultan zeci de parametri (vârstă, istoric, analize de sânge). Apare redundanța informației.</a:t>
            </a:r>
            <a:endParaRPr sz="1908"/>
          </a:p>
          <a:p>
            <a:pPr indent="0" lvl="0" marL="0" rtl="0" algn="l">
              <a:lnSpc>
                <a:spcPct val="105000"/>
              </a:lnSpc>
              <a:spcBef>
                <a:spcPts val="1200"/>
              </a:spcBef>
              <a:spcAft>
                <a:spcPts val="0"/>
              </a:spcAft>
              <a:buClr>
                <a:schemeClr val="hlink"/>
              </a:buClr>
              <a:buSzPts val="1100"/>
              <a:buFont typeface="Arial"/>
              <a:buNone/>
            </a:pPr>
            <a:r>
              <a:t/>
            </a:r>
            <a:endParaRPr sz="1908"/>
          </a:p>
          <a:p>
            <a:pPr indent="0" lvl="0" marL="0" rtl="0" algn="l">
              <a:lnSpc>
                <a:spcPct val="105000"/>
              </a:lnSpc>
              <a:spcBef>
                <a:spcPts val="1200"/>
              </a:spcBef>
              <a:spcAft>
                <a:spcPts val="0"/>
              </a:spcAft>
              <a:buClr>
                <a:schemeClr val="hlink"/>
              </a:buClr>
              <a:buSzPts val="1100"/>
              <a:buFont typeface="Arial"/>
              <a:buNone/>
            </a:pPr>
            <a:r>
              <a:rPr lang="en" sz="1908"/>
              <a:t>Soluția propusă: Utilizarea algoritmului SVD pentru a extrage trăsăturile dominante și a comprima datele, facilitând diagnosticul.</a:t>
            </a:r>
            <a:endParaRPr sz="1908"/>
          </a:p>
          <a:p>
            <a:pPr indent="0" lvl="0" marL="0" rtl="0" algn="ctr">
              <a:spcBef>
                <a:spcPts val="1200"/>
              </a:spcBef>
              <a:spcAft>
                <a:spcPts val="1200"/>
              </a:spcAft>
              <a:buNone/>
            </a:pPr>
            <a:r>
              <a:t/>
            </a:r>
            <a:endParaRPr sz="2950"/>
          </a:p>
        </p:txBody>
      </p:sp>
      <p:sp>
        <p:nvSpPr>
          <p:cNvPr id="272" name="Google Shape;272;p45"/>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De ce analizăm datele medicale?</a:t>
            </a:r>
            <a:endParaRPr sz="1200"/>
          </a:p>
        </p:txBody>
      </p:sp>
      <p:pic>
        <p:nvPicPr>
          <p:cNvPr descr="a close up of a human heart on a black background with a national geographic logo in the corner (Provided by Tenor)" id="273" name="Google Shape;273;p45"/>
          <p:cNvPicPr preferRelativeResize="0"/>
          <p:nvPr/>
        </p:nvPicPr>
        <p:blipFill>
          <a:blip r:embed="rId3">
            <a:alphaModFix/>
          </a:blip>
          <a:stretch>
            <a:fillRect/>
          </a:stretch>
        </p:blipFill>
        <p:spPr>
          <a:xfrm>
            <a:off x="7563800" y="3476625"/>
            <a:ext cx="1580200" cy="1580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46"/>
          <p:cNvSpPr txBox="1"/>
          <p:nvPr>
            <p:ph idx="1" type="subTitle"/>
          </p:nvPr>
        </p:nvSpPr>
        <p:spPr>
          <a:xfrm>
            <a:off x="975300" y="1244250"/>
            <a:ext cx="7193400" cy="4232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Implementare algoritmică: Scrierea algoritmilor Householder, QR și SVD exclusiv de la zero, fără funcții predefinite (np.linalg.svd).</a:t>
            </a:r>
            <a:endParaRPr sz="1608"/>
          </a:p>
          <a:p>
            <a:pPr indent="0" lvl="0" marL="0" rtl="0" algn="ctr">
              <a:spcBef>
                <a:spcPts val="1200"/>
              </a:spcBef>
              <a:spcAft>
                <a:spcPts val="0"/>
              </a:spcAft>
              <a:buClr>
                <a:schemeClr val="hlink"/>
              </a:buClr>
              <a:buSzPts val="1100"/>
              <a:buFont typeface="Arial"/>
              <a:buNone/>
            </a:pPr>
            <a:r>
              <a:t/>
            </a:r>
            <a:endParaRPr sz="1608"/>
          </a:p>
          <a:p>
            <a:pPr indent="0" lvl="0" marL="0" rtl="0" algn="ctr">
              <a:spcBef>
                <a:spcPts val="1200"/>
              </a:spcBef>
              <a:spcAft>
                <a:spcPts val="0"/>
              </a:spcAft>
              <a:buNone/>
            </a:pPr>
            <a:r>
              <a:rPr lang="en" sz="1608"/>
              <a:t>Preprocesarea datelor: Curățarea și standardizarea unui set de date reale de risc cardiovascular.</a:t>
            </a:r>
            <a:endParaRPr sz="1608"/>
          </a:p>
          <a:p>
            <a:pPr indent="0" lvl="0" marL="0" rtl="0" algn="ctr">
              <a:spcBef>
                <a:spcPts val="1200"/>
              </a:spcBef>
              <a:spcAft>
                <a:spcPts val="0"/>
              </a:spcAft>
              <a:buClr>
                <a:schemeClr val="hlink"/>
              </a:buClr>
              <a:buSzPts val="1100"/>
              <a:buFont typeface="Arial"/>
              <a:buNone/>
            </a:pPr>
            <a:r>
              <a:t/>
            </a:r>
            <a:endParaRPr sz="1608"/>
          </a:p>
          <a:p>
            <a:pPr indent="0" lvl="0" marL="0" rtl="0" algn="ctr">
              <a:spcBef>
                <a:spcPts val="1200"/>
              </a:spcBef>
              <a:spcAft>
                <a:spcPts val="0"/>
              </a:spcAft>
              <a:buNone/>
            </a:pPr>
            <a:r>
              <a:rPr lang="en" sz="1608"/>
              <a:t>Analiza erorilor: Evaluarea erorii matematice la aproximarea matricei prin rang inferior (k).</a:t>
            </a:r>
            <a:endParaRPr sz="1608"/>
          </a:p>
          <a:p>
            <a:pPr indent="0" lvl="0" marL="0" rtl="0" algn="ctr">
              <a:spcBef>
                <a:spcPts val="1200"/>
              </a:spcBef>
              <a:spcAft>
                <a:spcPts val="0"/>
              </a:spcAft>
              <a:buClr>
                <a:schemeClr val="hlink"/>
              </a:buClr>
              <a:buSzPts val="1100"/>
              <a:buFont typeface="Arial"/>
              <a:buNone/>
            </a:pPr>
            <a:r>
              <a:t/>
            </a:r>
            <a:endParaRPr sz="1608"/>
          </a:p>
          <a:p>
            <a:pPr indent="0" lvl="0" marL="0" rtl="0" algn="ctr">
              <a:spcBef>
                <a:spcPts val="1200"/>
              </a:spcBef>
              <a:spcAft>
                <a:spcPts val="0"/>
              </a:spcAft>
              <a:buClr>
                <a:schemeClr val="hlink"/>
              </a:buClr>
              <a:buSzPts val="1100"/>
              <a:buFont typeface="Arial"/>
              <a:buNone/>
            </a:pPr>
            <a:r>
              <a:rPr lang="en" sz="1608"/>
              <a:t>Vizualizare: Proiectarea pacienților într-un spațiu bidimensional (2D) pentru a observa separarea claselor de risc.</a:t>
            </a:r>
            <a:endParaRPr sz="1608"/>
          </a:p>
          <a:p>
            <a:pPr indent="0" lvl="0" marL="0" rtl="0" algn="ctr">
              <a:spcBef>
                <a:spcPts val="1200"/>
              </a:spcBef>
              <a:spcAft>
                <a:spcPts val="1200"/>
              </a:spcAft>
              <a:buNone/>
            </a:pPr>
            <a:r>
              <a:t/>
            </a:r>
            <a:endParaRPr sz="1608"/>
          </a:p>
        </p:txBody>
      </p:sp>
      <p:sp>
        <p:nvSpPr>
          <p:cNvPr id="280" name="Google Shape;280;p46"/>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Obiectivele proiectului</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47"/>
          <p:cNvSpPr txBox="1"/>
          <p:nvPr>
            <p:ph idx="1" type="subTitle"/>
          </p:nvPr>
        </p:nvSpPr>
        <p:spPr>
          <a:xfrm>
            <a:off x="3900650" y="1293925"/>
            <a:ext cx="4867800" cy="36168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Scrierea algoritmilor Householder, QR, Tridiagonalizării și SVD exclusiv ,,de la zero", fără funcții predefinite (np.linalg.svd) a fost realizată folosindu-i pe cei creați pentru laborator.</a:t>
            </a:r>
            <a:endParaRPr sz="1608"/>
          </a:p>
          <a:p>
            <a:pPr indent="0" lvl="0" marL="0" rtl="0" algn="ctr">
              <a:spcBef>
                <a:spcPts val="1200"/>
              </a:spcBef>
              <a:spcAft>
                <a:spcPts val="0"/>
              </a:spcAft>
              <a:buNone/>
            </a:pPr>
            <a:r>
              <a:t/>
            </a:r>
            <a:endParaRPr sz="1608"/>
          </a:p>
          <a:p>
            <a:pPr indent="0" lvl="0" marL="0" rtl="0" algn="ctr">
              <a:spcBef>
                <a:spcPts val="1200"/>
              </a:spcBef>
              <a:spcAft>
                <a:spcPts val="0"/>
              </a:spcAft>
              <a:buNone/>
            </a:pPr>
            <a:r>
              <a:rPr lang="en" sz="1608"/>
              <a:t>A fost făcută o corectare față de prezentarea din curs, pentru un nivel de stabilitate, am selectat ca semnul absolut al (x[0, 0])*norma(x)*e0 sa fie pozitiv.</a:t>
            </a:r>
            <a:endParaRPr sz="1608"/>
          </a:p>
          <a:p>
            <a:pPr indent="0" lvl="0" marL="0" rtl="0" algn="ctr">
              <a:spcBef>
                <a:spcPts val="1200"/>
              </a:spcBef>
              <a:spcAft>
                <a:spcPts val="1200"/>
              </a:spcAft>
              <a:buNone/>
            </a:pPr>
            <a:r>
              <a:rPr lang="en" sz="1608"/>
              <a:t>Restul algoritmilor au fost menținuți relativ asemănător cu cei din curs/laborator.</a:t>
            </a:r>
            <a:endParaRPr sz="1608"/>
          </a:p>
        </p:txBody>
      </p:sp>
      <p:sp>
        <p:nvSpPr>
          <p:cNvPr id="287" name="Google Shape;287;p47"/>
          <p:cNvSpPr txBox="1"/>
          <p:nvPr>
            <p:ph idx="2" type="body"/>
          </p:nvPr>
        </p:nvSpPr>
        <p:spPr>
          <a:xfrm>
            <a:off x="4076300" y="196450"/>
            <a:ext cx="45165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Factorizarea QR Householder</a:t>
            </a:r>
            <a:endParaRPr sz="1200"/>
          </a:p>
        </p:txBody>
      </p:sp>
      <p:pic>
        <p:nvPicPr>
          <p:cNvPr id="288" name="Google Shape;288;p47"/>
          <p:cNvPicPr preferRelativeResize="0"/>
          <p:nvPr/>
        </p:nvPicPr>
        <p:blipFill>
          <a:blip r:embed="rId3">
            <a:alphaModFix/>
          </a:blip>
          <a:stretch>
            <a:fillRect/>
          </a:stretch>
        </p:blipFill>
        <p:spPr>
          <a:xfrm>
            <a:off x="0" y="0"/>
            <a:ext cx="3699595"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8"/>
          <p:cNvSpPr txBox="1"/>
          <p:nvPr>
            <p:ph idx="1" type="subTitle"/>
          </p:nvPr>
        </p:nvSpPr>
        <p:spPr>
          <a:xfrm>
            <a:off x="3900650" y="1293925"/>
            <a:ext cx="4867800" cy="3834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Algoritmul implementează descompunerea SVD „de la zero” pentru a efectua reducerea dimensionalității unui set de date medicale, aproximând matricea de covarianță printr-un model de rang k care păstrează direcțiile de varianță maximă.</a:t>
            </a:r>
            <a:endParaRPr sz="1608"/>
          </a:p>
          <a:p>
            <a:pPr indent="0" lvl="0" marL="0" rtl="0" algn="ctr">
              <a:spcBef>
                <a:spcPts val="1200"/>
              </a:spcBef>
              <a:spcAft>
                <a:spcPts val="0"/>
              </a:spcAft>
              <a:buNone/>
            </a:pPr>
            <a:r>
              <a:rPr lang="en" sz="1608"/>
              <a:t>Formal, acesta transformă variabilele originale în componente principale ortogonale, permițând cuantificarea importanței fiecărei trăsături prin valorile singulare (sigma) și ponderile asociate, facilitând astfel identificarea factorilor de risc dominanți.</a:t>
            </a:r>
            <a:endParaRPr sz="1608"/>
          </a:p>
          <a:p>
            <a:pPr indent="0" lvl="0" marL="0" rtl="0" algn="ctr">
              <a:spcBef>
                <a:spcPts val="1200"/>
              </a:spcBef>
              <a:spcAft>
                <a:spcPts val="1200"/>
              </a:spcAft>
              <a:buNone/>
            </a:pPr>
            <a:r>
              <a:rPr lang="en" sz="1208"/>
              <a:t>(cardiovascularriskkeficient.py / </a:t>
            </a:r>
            <a:r>
              <a:rPr lang="en" sz="1208"/>
              <a:t>cardiovascularriskkeficient linalg.py</a:t>
            </a:r>
            <a:r>
              <a:rPr lang="en" sz="1208"/>
              <a:t>)</a:t>
            </a:r>
            <a:endParaRPr sz="1208"/>
          </a:p>
        </p:txBody>
      </p:sp>
      <p:sp>
        <p:nvSpPr>
          <p:cNvPr id="295" name="Google Shape;295;p48"/>
          <p:cNvSpPr txBox="1"/>
          <p:nvPr>
            <p:ph idx="2" type="body"/>
          </p:nvPr>
        </p:nvSpPr>
        <p:spPr>
          <a:xfrm>
            <a:off x="4076300" y="196450"/>
            <a:ext cx="45165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Reducerea Dimensionalității</a:t>
            </a:r>
            <a:endParaRPr b="1" sz="2800">
              <a:latin typeface="Times New Roman"/>
              <a:ea typeface="Times New Roman"/>
              <a:cs typeface="Times New Roman"/>
              <a:sym typeface="Times New Roman"/>
            </a:endParaRPr>
          </a:p>
        </p:txBody>
      </p:sp>
      <p:pic>
        <p:nvPicPr>
          <p:cNvPr id="296" name="Google Shape;296;p48"/>
          <p:cNvPicPr preferRelativeResize="0"/>
          <p:nvPr/>
        </p:nvPicPr>
        <p:blipFill>
          <a:blip r:embed="rId3">
            <a:alphaModFix/>
          </a:blip>
          <a:stretch>
            <a:fillRect/>
          </a:stretch>
        </p:blipFill>
        <p:spPr>
          <a:xfrm>
            <a:off x="197375" y="2639182"/>
            <a:ext cx="3604650" cy="2464568"/>
          </a:xfrm>
          <a:prstGeom prst="rect">
            <a:avLst/>
          </a:prstGeom>
          <a:noFill/>
          <a:ln>
            <a:noFill/>
          </a:ln>
        </p:spPr>
      </p:pic>
      <p:pic>
        <p:nvPicPr>
          <p:cNvPr id="297" name="Google Shape;297;p48"/>
          <p:cNvPicPr preferRelativeResize="0"/>
          <p:nvPr/>
        </p:nvPicPr>
        <p:blipFill>
          <a:blip r:embed="rId4">
            <a:alphaModFix/>
          </a:blip>
          <a:stretch>
            <a:fillRect/>
          </a:stretch>
        </p:blipFill>
        <p:spPr>
          <a:xfrm>
            <a:off x="197375" y="98600"/>
            <a:ext cx="3604650" cy="237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idx="1" type="subTitle"/>
          </p:nvPr>
        </p:nvSpPr>
        <p:spPr>
          <a:xfrm>
            <a:off x="975300" y="18640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t/>
            </a:r>
            <a:endParaRPr/>
          </a:p>
        </p:txBody>
      </p:sp>
      <p:sp>
        <p:nvSpPr>
          <p:cNvPr id="303" name="Google Shape;303;p4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t/>
            </a:r>
            <a:endParaRPr/>
          </a:p>
        </p:txBody>
      </p:sp>
      <p:pic>
        <p:nvPicPr>
          <p:cNvPr id="304" name="Google Shape;304;p49" title="Figure_1.png"/>
          <p:cNvPicPr preferRelativeResize="0"/>
          <p:nvPr/>
        </p:nvPicPr>
        <p:blipFill>
          <a:blip r:embed="rId3">
            <a:alphaModFix/>
          </a:blip>
          <a:stretch>
            <a:fillRect/>
          </a:stretch>
        </p:blipFill>
        <p:spPr>
          <a:xfrm>
            <a:off x="357450" y="0"/>
            <a:ext cx="8589176" cy="536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50"/>
          <p:cNvSpPr txBox="1"/>
          <p:nvPr>
            <p:ph idx="1" type="subTitle"/>
          </p:nvPr>
        </p:nvSpPr>
        <p:spPr>
          <a:xfrm>
            <a:off x="975300" y="1582950"/>
            <a:ext cx="7193400" cy="19776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Set de date: cardiovascular_risk_dataset.csv.</a:t>
            </a:r>
            <a:endParaRPr sz="1608"/>
          </a:p>
          <a:p>
            <a:pPr indent="0" lvl="0" marL="0" rtl="0" algn="ctr">
              <a:spcBef>
                <a:spcPts val="1200"/>
              </a:spcBef>
              <a:spcAft>
                <a:spcPts val="0"/>
              </a:spcAft>
              <a:buNone/>
            </a:pPr>
            <a:r>
              <a:rPr lang="en" sz="1608"/>
              <a:t>Codificarea variabilelor categorice: Transformarea textului în numere (ex. fumat: Never=0, Former=1, Current=2).</a:t>
            </a:r>
            <a:endParaRPr sz="1608"/>
          </a:p>
          <a:p>
            <a:pPr indent="0" lvl="0" marL="0" rtl="0" algn="ctr">
              <a:spcBef>
                <a:spcPts val="1200"/>
              </a:spcBef>
              <a:spcAft>
                <a:spcPts val="1200"/>
              </a:spcAft>
              <a:buNone/>
            </a:pPr>
            <a:r>
              <a:rPr lang="en" sz="1608"/>
              <a:t>Standardizarea: Esențială pentru a aduce toți parametrii (ex: varsta de 20, tensiune de 140 și colesterol de 200) la aceeași scară de magnitudine: C_std = (x - medie) / deviatiestandard</a:t>
            </a:r>
            <a:endParaRPr sz="1608"/>
          </a:p>
        </p:txBody>
      </p:sp>
      <p:sp>
        <p:nvSpPr>
          <p:cNvPr id="311" name="Google Shape;311;p50"/>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Preprocesarea datelor</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51"/>
          <p:cNvSpPr txBox="1"/>
          <p:nvPr>
            <p:ph idx="1" type="subTitle"/>
          </p:nvPr>
        </p:nvSpPr>
        <p:spPr>
          <a:xfrm>
            <a:off x="975300" y="1244250"/>
            <a:ext cx="7193400" cy="14826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Scopul: Aducerea matricei de covarianță C la o formă tridiagonală T.</a:t>
            </a:r>
            <a:endParaRPr sz="1608"/>
          </a:p>
          <a:p>
            <a:pPr indent="0" lvl="0" marL="0" rtl="0" algn="ctr">
              <a:spcBef>
                <a:spcPts val="1200"/>
              </a:spcBef>
              <a:spcAft>
                <a:spcPts val="0"/>
              </a:spcAft>
              <a:buNone/>
            </a:pPr>
            <a:r>
              <a:rPr lang="en" sz="1608"/>
              <a:t>Se folosesc transformări de reflexie ortogonală.</a:t>
            </a:r>
            <a:endParaRPr sz="1608"/>
          </a:p>
          <a:p>
            <a:pPr indent="0" lvl="0" marL="0" rtl="0" algn="ctr">
              <a:spcBef>
                <a:spcPts val="1200"/>
              </a:spcBef>
              <a:spcAft>
                <a:spcPts val="1200"/>
              </a:spcAft>
              <a:buNone/>
            </a:pPr>
            <a:r>
              <a:rPr lang="en" sz="1608"/>
              <a:t>Forma tridiagonală păstrează valorile proprii, dar accelerează dramatic pașii computaționali ulteriori.</a:t>
            </a:r>
            <a:endParaRPr sz="1608"/>
          </a:p>
        </p:txBody>
      </p:sp>
      <p:sp>
        <p:nvSpPr>
          <p:cNvPr id="318" name="Google Shape;318;p51"/>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Algoritmul 1 - Tridiagonalizarea Householder</a:t>
            </a:r>
            <a:endParaRPr sz="1200"/>
          </a:p>
        </p:txBody>
      </p:sp>
      <p:pic>
        <p:nvPicPr>
          <p:cNvPr id="319" name="Google Shape;319;p51"/>
          <p:cNvPicPr preferRelativeResize="0"/>
          <p:nvPr/>
        </p:nvPicPr>
        <p:blipFill>
          <a:blip r:embed="rId3">
            <a:alphaModFix/>
          </a:blip>
          <a:stretch>
            <a:fillRect/>
          </a:stretch>
        </p:blipFill>
        <p:spPr>
          <a:xfrm>
            <a:off x="3069100" y="2973350"/>
            <a:ext cx="3005800" cy="7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52"/>
          <p:cNvSpPr txBox="1"/>
          <p:nvPr>
            <p:ph idx="1" type="subTitle"/>
          </p:nvPr>
        </p:nvSpPr>
        <p:spPr>
          <a:xfrm>
            <a:off x="975300" y="1244250"/>
            <a:ext cx="7193400" cy="4323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sz="1608"/>
              <a:t>Concept: Descompunerea repetată a matricei tridiagonale:</a:t>
            </a:r>
            <a:endParaRPr sz="1608"/>
          </a:p>
        </p:txBody>
      </p:sp>
      <p:sp>
        <p:nvSpPr>
          <p:cNvPr id="326" name="Google Shape;326;p52"/>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Algoritmul 2 - Iterația QR</a:t>
            </a:r>
            <a:endParaRPr sz="1200"/>
          </a:p>
        </p:txBody>
      </p:sp>
      <p:sp>
        <p:nvSpPr>
          <p:cNvPr id="327" name="Google Shape;327;p52"/>
          <p:cNvSpPr txBox="1"/>
          <p:nvPr>
            <p:ph idx="1" type="subTitle"/>
          </p:nvPr>
        </p:nvSpPr>
        <p:spPr>
          <a:xfrm>
            <a:off x="975300" y="3861950"/>
            <a:ext cx="7193400" cy="13287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Criteriul de oprire: Elementele extra-diagonale devin mai mici decât o toleranță fixată (10^(-10))</a:t>
            </a:r>
            <a:endParaRPr sz="1608"/>
          </a:p>
          <a:p>
            <a:pPr indent="0" lvl="0" marL="0" rtl="0" algn="ctr">
              <a:spcBef>
                <a:spcPts val="1200"/>
              </a:spcBef>
              <a:spcAft>
                <a:spcPts val="1200"/>
              </a:spcAft>
              <a:buNone/>
            </a:pPr>
            <a:r>
              <a:rPr lang="en" sz="1608"/>
              <a:t>.Rezultat: Matricea converge spre o formă diagonală cu valorile proprii (lambda_i). Produsul matricelor Q generează vectorii proprii.</a:t>
            </a:r>
            <a:endParaRPr sz="1608"/>
          </a:p>
        </p:txBody>
      </p:sp>
      <p:pic>
        <p:nvPicPr>
          <p:cNvPr id="328" name="Google Shape;328;p52"/>
          <p:cNvPicPr preferRelativeResize="0"/>
          <p:nvPr/>
        </p:nvPicPr>
        <p:blipFill>
          <a:blip r:embed="rId3">
            <a:alphaModFix/>
          </a:blip>
          <a:stretch>
            <a:fillRect/>
          </a:stretch>
        </p:blipFill>
        <p:spPr>
          <a:xfrm>
            <a:off x="2964249" y="1718025"/>
            <a:ext cx="3215500" cy="2102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3"/>
          <p:cNvSpPr txBox="1"/>
          <p:nvPr>
            <p:ph idx="1" type="subTitle"/>
          </p:nvPr>
        </p:nvSpPr>
        <p:spPr>
          <a:xfrm>
            <a:off x="975300" y="1244250"/>
            <a:ext cx="7193400" cy="4323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sz="1608"/>
              <a:t>Concept: Descompunerea repetată a matricei tridiagonale:</a:t>
            </a:r>
            <a:endParaRPr sz="1608"/>
          </a:p>
        </p:txBody>
      </p:sp>
      <p:sp>
        <p:nvSpPr>
          <p:cNvPr id="335" name="Google Shape;335;p53"/>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Reconstrucția SVD și Gram-Schmidt</a:t>
            </a:r>
            <a:endParaRPr sz="1200"/>
          </a:p>
        </p:txBody>
      </p:sp>
      <p:sp>
        <p:nvSpPr>
          <p:cNvPr id="336" name="Google Shape;336;p53"/>
          <p:cNvSpPr txBox="1"/>
          <p:nvPr>
            <p:ph idx="1" type="subTitle"/>
          </p:nvPr>
        </p:nvSpPr>
        <p:spPr>
          <a:xfrm>
            <a:off x="975300" y="3861950"/>
            <a:ext cx="7193400" cy="9273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sz="1608"/>
              <a:t>Corecție numerică: Algoritmul Gram-Schmidt a fost implementat pentru a trata valorile singulare aproape nule (&lt; 10^(-10)), asigurând ortogonalitatea completă și evitând erorile de tip ,,împărțire la zero".</a:t>
            </a:r>
            <a:endParaRPr sz="1608"/>
          </a:p>
        </p:txBody>
      </p:sp>
      <p:pic>
        <p:nvPicPr>
          <p:cNvPr id="337" name="Google Shape;337;p53"/>
          <p:cNvPicPr preferRelativeResize="0"/>
          <p:nvPr/>
        </p:nvPicPr>
        <p:blipFill>
          <a:blip r:embed="rId3">
            <a:alphaModFix/>
          </a:blip>
          <a:stretch>
            <a:fillRect/>
          </a:stretch>
        </p:blipFill>
        <p:spPr>
          <a:xfrm>
            <a:off x="3746688" y="2868850"/>
            <a:ext cx="1650625" cy="647300"/>
          </a:xfrm>
          <a:prstGeom prst="rect">
            <a:avLst/>
          </a:prstGeom>
          <a:noFill/>
          <a:ln>
            <a:noFill/>
          </a:ln>
        </p:spPr>
      </p:pic>
      <p:pic>
        <p:nvPicPr>
          <p:cNvPr id="338" name="Google Shape;338;p53"/>
          <p:cNvPicPr preferRelativeResize="0"/>
          <p:nvPr/>
        </p:nvPicPr>
        <p:blipFill>
          <a:blip r:embed="rId4">
            <a:alphaModFix/>
          </a:blip>
          <a:stretch>
            <a:fillRect/>
          </a:stretch>
        </p:blipFill>
        <p:spPr>
          <a:xfrm>
            <a:off x="615613" y="1828950"/>
            <a:ext cx="7912763" cy="88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4"/>
          <p:cNvSpPr txBox="1"/>
          <p:nvPr>
            <p:ph idx="2" type="body"/>
          </p:nvPr>
        </p:nvSpPr>
        <p:spPr>
          <a:xfrm>
            <a:off x="2313750" y="79925"/>
            <a:ext cx="45165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Semnificația Medicală (Analiza Ponderilor)</a:t>
            </a:r>
            <a:endParaRPr b="1" sz="2800">
              <a:latin typeface="Times New Roman"/>
              <a:ea typeface="Times New Roman"/>
              <a:cs typeface="Times New Roman"/>
              <a:sym typeface="Times New Roman"/>
            </a:endParaRPr>
          </a:p>
        </p:txBody>
      </p:sp>
      <p:pic>
        <p:nvPicPr>
          <p:cNvPr id="345" name="Google Shape;345;p54"/>
          <p:cNvPicPr preferRelativeResize="0"/>
          <p:nvPr/>
        </p:nvPicPr>
        <p:blipFill>
          <a:blip r:embed="rId3">
            <a:alphaModFix/>
          </a:blip>
          <a:stretch>
            <a:fillRect/>
          </a:stretch>
        </p:blipFill>
        <p:spPr>
          <a:xfrm>
            <a:off x="903263" y="1073825"/>
            <a:ext cx="7337477" cy="3873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5"/>
          <p:cNvSpPr txBox="1"/>
          <p:nvPr>
            <p:ph idx="2" type="body"/>
          </p:nvPr>
        </p:nvSpPr>
        <p:spPr>
          <a:xfrm>
            <a:off x="2313750" y="79925"/>
            <a:ext cx="45165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Maparea Riscului Cardiovascular (2D)</a:t>
            </a:r>
            <a:endParaRPr b="1" sz="2800">
              <a:latin typeface="Times New Roman"/>
              <a:ea typeface="Times New Roman"/>
              <a:cs typeface="Times New Roman"/>
              <a:sym typeface="Times New Roman"/>
            </a:endParaRPr>
          </a:p>
        </p:txBody>
      </p:sp>
      <p:pic>
        <p:nvPicPr>
          <p:cNvPr id="352" name="Google Shape;352;p55" title="Figure_3.png"/>
          <p:cNvPicPr preferRelativeResize="0"/>
          <p:nvPr/>
        </p:nvPicPr>
        <p:blipFill>
          <a:blip r:embed="rId3">
            <a:alphaModFix/>
          </a:blip>
          <a:stretch>
            <a:fillRect/>
          </a:stretch>
        </p:blipFill>
        <p:spPr>
          <a:xfrm>
            <a:off x="1811651" y="1082575"/>
            <a:ext cx="5520675" cy="38644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56"/>
          <p:cNvSpPr txBox="1"/>
          <p:nvPr>
            <p:ph idx="1" type="subTitle"/>
          </p:nvPr>
        </p:nvSpPr>
        <p:spPr>
          <a:xfrm>
            <a:off x="5147425" y="1504225"/>
            <a:ext cx="3880200" cy="29652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Se observă diferențele de timpi de execuție dintre cele două programe.</a:t>
            </a:r>
            <a:endParaRPr sz="1608"/>
          </a:p>
          <a:p>
            <a:pPr indent="0" lvl="0" marL="0" rtl="0" algn="ctr">
              <a:spcBef>
                <a:spcPts val="1200"/>
              </a:spcBef>
              <a:spcAft>
                <a:spcPts val="0"/>
              </a:spcAft>
              <a:buNone/>
            </a:pPr>
            <a:r>
              <a:t/>
            </a:r>
            <a:endParaRPr sz="1608"/>
          </a:p>
          <a:p>
            <a:pPr indent="0" lvl="0" marL="0" rtl="0" algn="ctr">
              <a:spcBef>
                <a:spcPts val="1200"/>
              </a:spcBef>
              <a:spcAft>
                <a:spcPts val="0"/>
              </a:spcAft>
              <a:buNone/>
            </a:pPr>
            <a:r>
              <a:rPr lang="en" sz="1608"/>
              <a:t>Statisticile de sănătate ale pacienților sunt la fel. Inițial, matricea de intrare avea 5501 linii (5500 pacienți) și 17 coloane (din care s-a renunțat la 3).</a:t>
            </a:r>
            <a:endParaRPr sz="1608"/>
          </a:p>
          <a:p>
            <a:pPr indent="0" lvl="0" marL="0" rtl="0" algn="ctr">
              <a:spcBef>
                <a:spcPts val="1200"/>
              </a:spcBef>
              <a:spcAft>
                <a:spcPts val="0"/>
              </a:spcAft>
              <a:buNone/>
            </a:pPr>
            <a:r>
              <a:t/>
            </a:r>
            <a:endParaRPr sz="1608"/>
          </a:p>
          <a:p>
            <a:pPr indent="0" lvl="0" marL="0" rtl="0" algn="ctr">
              <a:spcBef>
                <a:spcPts val="1200"/>
              </a:spcBef>
              <a:spcAft>
                <a:spcPts val="1200"/>
              </a:spcAft>
              <a:buNone/>
            </a:pPr>
            <a:r>
              <a:rPr lang="en" sz="1200"/>
              <a:t>(proiect fara linalg.py / proiect cu linalg.py)</a:t>
            </a:r>
            <a:endParaRPr sz="1200"/>
          </a:p>
        </p:txBody>
      </p:sp>
      <p:sp>
        <p:nvSpPr>
          <p:cNvPr id="359" name="Google Shape;359;p56"/>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Statistici și timpi de execuție</a:t>
            </a:r>
            <a:endParaRPr sz="1200"/>
          </a:p>
        </p:txBody>
      </p:sp>
      <p:pic>
        <p:nvPicPr>
          <p:cNvPr id="360" name="Google Shape;360;p56"/>
          <p:cNvPicPr preferRelativeResize="0"/>
          <p:nvPr/>
        </p:nvPicPr>
        <p:blipFill>
          <a:blip r:embed="rId3">
            <a:alphaModFix/>
          </a:blip>
          <a:stretch>
            <a:fillRect/>
          </a:stretch>
        </p:blipFill>
        <p:spPr>
          <a:xfrm>
            <a:off x="48975" y="1272050"/>
            <a:ext cx="4016849" cy="1161175"/>
          </a:xfrm>
          <a:prstGeom prst="rect">
            <a:avLst/>
          </a:prstGeom>
          <a:noFill/>
          <a:ln>
            <a:noFill/>
          </a:ln>
        </p:spPr>
      </p:pic>
      <p:pic>
        <p:nvPicPr>
          <p:cNvPr id="361" name="Google Shape;361;p56"/>
          <p:cNvPicPr preferRelativeResize="0"/>
          <p:nvPr/>
        </p:nvPicPr>
        <p:blipFill>
          <a:blip r:embed="rId4">
            <a:alphaModFix/>
          </a:blip>
          <a:stretch>
            <a:fillRect/>
          </a:stretch>
        </p:blipFill>
        <p:spPr>
          <a:xfrm>
            <a:off x="48975" y="3139225"/>
            <a:ext cx="4016850" cy="118373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7"/>
          <p:cNvSpPr txBox="1"/>
          <p:nvPr>
            <p:ph idx="1" type="subTitle"/>
          </p:nvPr>
        </p:nvSpPr>
        <p:spPr>
          <a:xfrm>
            <a:off x="975300" y="1582950"/>
            <a:ext cx="7193400" cy="2967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Reducerea complexității (Dimensionalității): Datele medicale au adesea zeci de variabile (vârstă, tensiune, colesterol, greutate, istoric familial). Aplicația reușește să comprime toate aceste informații în doar 2-3 "Componente Principale". Acest lucru face setul de date mult mai ușor de gestionat.</a:t>
            </a:r>
            <a:endParaRPr sz="1608"/>
          </a:p>
          <a:p>
            <a:pPr indent="0" lvl="0" marL="0" rtl="0" algn="ctr">
              <a:spcBef>
                <a:spcPts val="1200"/>
              </a:spcBef>
              <a:spcAft>
                <a:spcPts val="0"/>
              </a:spcAft>
              <a:buNone/>
            </a:pPr>
            <a:r>
              <a:t/>
            </a:r>
            <a:endParaRPr sz="1608"/>
          </a:p>
          <a:p>
            <a:pPr indent="0" lvl="0" marL="0" rtl="0" algn="ctr">
              <a:spcBef>
                <a:spcPts val="1200"/>
              </a:spcBef>
              <a:spcAft>
                <a:spcPts val="1200"/>
              </a:spcAft>
              <a:buNone/>
            </a:pPr>
            <a:r>
              <a:rPr lang="en" sz="1608"/>
              <a:t>Identificarea factorilor de risc dominanți: Prin funcția care afișează ponderile (afisponderi), aplicația arată exact care variabile clinice trag cel mai tare / domină în formarea riscului cardiovascular. Nu trebuie ghicit.</a:t>
            </a:r>
            <a:endParaRPr sz="1608"/>
          </a:p>
        </p:txBody>
      </p:sp>
      <p:sp>
        <p:nvSpPr>
          <p:cNvPr id="367" name="Google Shape;367;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57"/>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Avantaje</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975300" y="1582950"/>
            <a:ext cx="7193400" cy="11748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sz="1608"/>
              <a:t>Filtrarea zgomotului: Prin eliminarea componentelor cu valori singulare foarte mici (ultimele din tabel), aplicația aruncă de fapt erorile de măsurare și ,,zgomotul" statistic, păstrând doar tiparele puternice din date.</a:t>
            </a:r>
            <a:endParaRPr sz="1608"/>
          </a:p>
        </p:txBody>
      </p:sp>
      <p:sp>
        <p:nvSpPr>
          <p:cNvPr id="374" name="Google Shape;37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8"/>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Avantaje</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idx="1" type="subTitle"/>
          </p:nvPr>
        </p:nvSpPr>
        <p:spPr>
          <a:xfrm>
            <a:off x="975300" y="1582950"/>
            <a:ext cx="7193400" cy="3215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Pierderea interpretabilității directe (cel mai mare dezavantaj): Un medic înțelege perfect ce înseamnă ,,,Tensiune arterială = 140”. Dar Componenta Principală 1 este o ecuație matematică (ex: 0.5 x Tensiune + 0.3 x Vârstă + 0.1 x Colesterol). Nu există o unitate de măsură clinică pentru ,,Componenta 1”, ceea ce face rezultatul mai greu de explicat unui pacient.</a:t>
            </a:r>
            <a:endParaRPr sz="1608"/>
          </a:p>
          <a:p>
            <a:pPr indent="0" lvl="0" marL="0" rtl="0" algn="ctr">
              <a:spcBef>
                <a:spcPts val="1200"/>
              </a:spcBef>
              <a:spcAft>
                <a:spcPts val="0"/>
              </a:spcAft>
              <a:buNone/>
            </a:pPr>
            <a:r>
              <a:t/>
            </a:r>
            <a:endParaRPr sz="1608"/>
          </a:p>
          <a:p>
            <a:pPr indent="0" lvl="0" marL="0" rtl="0" algn="ctr">
              <a:spcBef>
                <a:spcPts val="1200"/>
              </a:spcBef>
              <a:spcAft>
                <a:spcPts val="1200"/>
              </a:spcAft>
              <a:buNone/>
            </a:pPr>
            <a:r>
              <a:rPr lang="en" sz="1608"/>
              <a:t>Sensibilitatea la anomalii (Valori extreme): PCA se bazează pe varianță (ridicarea distanțelor la pătrat). Dacă în tabel există pacienți cu date introduse greșit sau cu valori extrem de mari/anormale, aceștia vor ,trage puternic axele spre ei, distorsionând întregul model.</a:t>
            </a:r>
            <a:endParaRPr sz="1608"/>
          </a:p>
        </p:txBody>
      </p:sp>
      <p:sp>
        <p:nvSpPr>
          <p:cNvPr id="381" name="Google Shape;38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59"/>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Deza</a:t>
            </a:r>
            <a:r>
              <a:rPr b="1" lang="en" sz="2800">
                <a:latin typeface="Times New Roman"/>
                <a:ea typeface="Times New Roman"/>
                <a:cs typeface="Times New Roman"/>
                <a:sym typeface="Times New Roman"/>
              </a:rPr>
              <a:t>vantaje</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0"/>
          <p:cNvSpPr txBox="1"/>
          <p:nvPr>
            <p:ph idx="1" type="subTitle"/>
          </p:nvPr>
        </p:nvSpPr>
        <p:spPr>
          <a:xfrm>
            <a:off x="975300" y="1582950"/>
            <a:ext cx="7193400" cy="14223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sz="1608"/>
              <a:t>Varianța maximă nu înseamnă neapărat predicție bună: PCA caută direcțiile în care datele se împrăștie cel mai mult. Dar este posibil ca împrăștierea maximă să fie dată de vârstă, în timp ce riscul real de infarct să fie definit de o variabilă mai subtilă (cu varianță mai mică), pe care PCA o aruncă în componentele inferioare.</a:t>
            </a:r>
            <a:endParaRPr sz="1608"/>
          </a:p>
        </p:txBody>
      </p:sp>
      <p:sp>
        <p:nvSpPr>
          <p:cNvPr id="388" name="Google Shape;38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60"/>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Dezavantaje</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61"/>
          <p:cNvSpPr txBox="1"/>
          <p:nvPr>
            <p:ph idx="1" type="subTitle"/>
          </p:nvPr>
        </p:nvSpPr>
        <p:spPr>
          <a:xfrm>
            <a:off x="975300" y="1582950"/>
            <a:ext cx="7193400" cy="19776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Implementare robustă: Algoritmii numerici de la zero (Householder, QR) sunt perfect funcționali pe un set de date reale.</a:t>
            </a:r>
            <a:endParaRPr sz="1608"/>
          </a:p>
          <a:p>
            <a:pPr indent="0" lvl="0" marL="0" rtl="0" algn="ctr">
              <a:spcBef>
                <a:spcPts val="1200"/>
              </a:spcBef>
              <a:spcAft>
                <a:spcPts val="0"/>
              </a:spcAft>
              <a:buNone/>
            </a:pPr>
            <a:r>
              <a:rPr lang="en" sz="1608"/>
              <a:t>Eficiență: Analiza cu SVD a eliminat redundanța, extrăgând factorii determinanți ai riscului de infarct.</a:t>
            </a:r>
            <a:endParaRPr sz="1608"/>
          </a:p>
          <a:p>
            <a:pPr indent="0" lvl="0" marL="0" rtl="0" algn="ctr">
              <a:spcBef>
                <a:spcPts val="1200"/>
              </a:spcBef>
              <a:spcAft>
                <a:spcPts val="1200"/>
              </a:spcAft>
              <a:buNone/>
            </a:pPr>
            <a:r>
              <a:rPr lang="en" sz="1608"/>
              <a:t>Transparență: Folosirea matricei V ne permite să traducem matematica abstractă direct în parametri medicali utili medicilor.</a:t>
            </a:r>
            <a:endParaRPr sz="1608"/>
          </a:p>
        </p:txBody>
      </p:sp>
      <p:sp>
        <p:nvSpPr>
          <p:cNvPr id="396" name="Google Shape;396;p61"/>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Concluzii</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62"/>
          <p:cNvSpPr txBox="1"/>
          <p:nvPr>
            <p:ph idx="1" type="subTitle"/>
          </p:nvPr>
        </p:nvSpPr>
        <p:spPr>
          <a:xfrm>
            <a:off x="975300" y="1582950"/>
            <a:ext cx="7193400" cy="31821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608"/>
              <a:t>G.H. Golub, C.F. Van Loan - Matrix Computations, Johns Hopkins University Press, 2013.</a:t>
            </a:r>
            <a:endParaRPr sz="1608"/>
          </a:p>
          <a:p>
            <a:pPr indent="0" lvl="0" marL="0" rtl="0" algn="ctr">
              <a:spcBef>
                <a:spcPts val="1200"/>
              </a:spcBef>
              <a:spcAft>
                <a:spcPts val="0"/>
              </a:spcAft>
              <a:buNone/>
            </a:pPr>
            <a:r>
              <a:rPr lang="en" sz="1608"/>
              <a:t>Cursul și laboratorul de calcul numeric</a:t>
            </a:r>
            <a:endParaRPr sz="1608"/>
          </a:p>
          <a:p>
            <a:pPr indent="0" lvl="0" marL="0" rtl="0" algn="ctr">
              <a:spcBef>
                <a:spcPts val="1200"/>
              </a:spcBef>
              <a:spcAft>
                <a:spcPts val="0"/>
              </a:spcAft>
              <a:buNone/>
            </a:pPr>
            <a:r>
              <a:rPr lang="en" sz="1608"/>
              <a:t>L.N. Trefethen, D. Bau - Numerical Linear Algebra</a:t>
            </a:r>
            <a:endParaRPr sz="1608"/>
          </a:p>
          <a:p>
            <a:pPr indent="0" lvl="0" marL="0" rtl="0" algn="ctr">
              <a:spcBef>
                <a:spcPts val="1200"/>
              </a:spcBef>
              <a:spcAft>
                <a:spcPts val="0"/>
              </a:spcAft>
              <a:buNone/>
            </a:pPr>
            <a:r>
              <a:rPr lang="en" sz="1608"/>
              <a:t>Bessel's Correction - Oxford College, Department of Mathematics and Computer Science</a:t>
            </a:r>
            <a:endParaRPr sz="1608"/>
          </a:p>
          <a:p>
            <a:pPr indent="0" lvl="0" marL="914400" rtl="0" algn="ctr">
              <a:spcBef>
                <a:spcPts val="1200"/>
              </a:spcBef>
              <a:spcAft>
                <a:spcPts val="0"/>
              </a:spcAft>
              <a:buNone/>
            </a:pPr>
            <a:r>
              <a:rPr lang="en" sz="1608"/>
              <a:t>I.T. Jolliffe - Principal Component Analysis, Second Edition</a:t>
            </a:r>
            <a:endParaRPr sz="1608"/>
          </a:p>
          <a:p>
            <a:pPr indent="0" lvl="0" marL="0" rtl="0" algn="ctr">
              <a:spcBef>
                <a:spcPts val="1200"/>
              </a:spcBef>
              <a:spcAft>
                <a:spcPts val="1200"/>
              </a:spcAft>
              <a:buNone/>
            </a:pPr>
            <a:r>
              <a:rPr lang="en" sz="1608"/>
              <a:t>https://www.kaggle.com/datasets/vishardmehta/heart-risk-progression-dataset</a:t>
            </a:r>
            <a:endParaRPr sz="1608"/>
          </a:p>
        </p:txBody>
      </p:sp>
      <p:sp>
        <p:nvSpPr>
          <p:cNvPr id="403" name="Google Shape;403;p62"/>
          <p:cNvSpPr txBox="1"/>
          <p:nvPr>
            <p:ph idx="2" type="body"/>
          </p:nvPr>
        </p:nvSpPr>
        <p:spPr>
          <a:xfrm>
            <a:off x="798450" y="289225"/>
            <a:ext cx="7547100" cy="8415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en" sz="2800">
                <a:latin typeface="Times New Roman"/>
                <a:ea typeface="Times New Roman"/>
                <a:cs typeface="Times New Roman"/>
                <a:sym typeface="Times New Roman"/>
              </a:rPr>
              <a:t>Bibliografie</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3"/>
          <p:cNvSpPr txBox="1"/>
          <p:nvPr>
            <p:ph idx="1" type="subTitle"/>
          </p:nvPr>
        </p:nvSpPr>
        <p:spPr>
          <a:xfrm>
            <a:off x="975313" y="1119975"/>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Vă mulțumim pentru atenție!</a:t>
            </a:r>
            <a:endParaRPr/>
          </a:p>
        </p:txBody>
      </p:sp>
      <p:pic>
        <p:nvPicPr>
          <p:cNvPr descr="Human Circulatory System Heart Anatomy (Provided by Getty Images)" id="409" name="Google Shape;409;p63"/>
          <p:cNvPicPr preferRelativeResize="0"/>
          <p:nvPr/>
        </p:nvPicPr>
        <p:blipFill>
          <a:blip r:embed="rId3">
            <a:alphaModFix/>
          </a:blip>
          <a:stretch>
            <a:fillRect/>
          </a:stretch>
        </p:blipFill>
        <p:spPr>
          <a:xfrm>
            <a:off x="2454538" y="2571750"/>
            <a:ext cx="4234936" cy="23821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